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Old Standard TT"/>
      <p:regular r:id="rId16"/>
      <p:bold r:id="rId17"/>
      <p: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bold.fntdata"/><Relationship Id="rId16" Type="http://schemas.openxmlformats.org/officeDocument/2006/relationships/font" Target="fonts/OldStandardT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ldStandardT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e12128cf0b75fa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e12128cf0b75f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6f90357f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c6f90357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CompraExplore!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Juan Sebastian Roa Sanchez	</a:t>
            </a:r>
            <a:r>
              <a:rPr lang="es-419"/>
              <a:t>Jaime Alejandro Carvajal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Johan Sebastian Sepúlveda       Cristopher Benavides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90250" y="526350"/>
            <a:ext cx="8191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</a:t>
            </a:r>
            <a:r>
              <a:rPr lang="es-419"/>
              <a:t>Cuánto</a:t>
            </a:r>
            <a:r>
              <a:rPr lang="es-419"/>
              <a:t> </a:t>
            </a:r>
            <a:r>
              <a:rPr lang="es-419"/>
              <a:t>estrés</a:t>
            </a:r>
            <a:r>
              <a:rPr lang="es-419"/>
              <a:t> puede generar </a:t>
            </a:r>
            <a:r>
              <a:rPr lang="es-419"/>
              <a:t>decidir</a:t>
            </a:r>
            <a:r>
              <a:rPr lang="es-419"/>
              <a:t> cual es mi mejor </a:t>
            </a:r>
            <a:r>
              <a:rPr lang="es-419"/>
              <a:t>opción</a:t>
            </a:r>
            <a:r>
              <a:rPr lang="es-419"/>
              <a:t> de compra 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12700" y="22695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Problema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700150" y="1960425"/>
            <a:ext cx="6931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El estrés que puede generar para un usuario el ir presencialmente a una tienda física para</a:t>
            </a:r>
            <a:endParaRPr sz="22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comprar un artículo, ya que pierde tiempo, dinero en transporte y muchas veces tiene que</a:t>
            </a:r>
            <a:endParaRPr sz="22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enfrentarse a una mala atención por parte de los asesores o vendedores.</a:t>
            </a:r>
            <a:endParaRPr sz="22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Justificación</a:t>
            </a:r>
            <a:r>
              <a:rPr lang="es-419"/>
              <a:t> del </a:t>
            </a:r>
            <a:r>
              <a:rPr lang="es-419"/>
              <a:t>proyecto</a:t>
            </a:r>
            <a:endParaRPr/>
          </a:p>
        </p:txBody>
      </p:sp>
      <p:sp>
        <p:nvSpPr>
          <p:cNvPr id="77" name="Google Shape;77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Facilitación de la vida de los usuarios: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Ampliación de la oferta para los usuarios: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Beneficios para las empresas participantes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Casos de uso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Actores Principales: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AutoNum type="arabicPeriod"/>
            </a:pPr>
            <a:r>
              <a:rPr lang="es-419" sz="1600"/>
              <a:t>	</a:t>
            </a:r>
            <a:r>
              <a:rPr lang="es-419" sz="1500"/>
              <a:t>Usuario Final: Consumidores que buscan productos y desean comparar precios.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AutoNum type="arabicPeriod"/>
            </a:pPr>
            <a:r>
              <a:rPr lang="es-419" sz="1500"/>
              <a:t>	Administrador de la Plataforma: Persona encargada de gestionar y mantener la plataforma CompraExplore.</a:t>
            </a:r>
            <a:endParaRPr sz="15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AutoNum type="arabicPeriod"/>
            </a:pPr>
            <a:r>
              <a:rPr lang="es-419" sz="1500"/>
              <a:t>	Proveedor de Datos: Sitios web de comercio electrónico y bases de datos de productos que proporcionan información sobre precios y </a:t>
            </a:r>
            <a:r>
              <a:rPr lang="es-419" sz="1600"/>
              <a:t>disponibilidad.</a:t>
            </a:r>
            <a:endParaRPr sz="1600"/>
          </a:p>
        </p:txBody>
      </p:sp>
      <p:pic>
        <p:nvPicPr>
          <p:cNvPr descr="Toma cenital de una mano que sostiene una taza de té de color claro con rodajas de limón flotando" id="84" name="Google Shape;84;p17"/>
          <p:cNvPicPr preferRelativeResize="0"/>
          <p:nvPr/>
        </p:nvPicPr>
        <p:blipFill rotWithShape="1">
          <a:blip r:embed="rId3">
            <a:alphaModFix/>
          </a:blip>
          <a:srcRect b="4067" l="17813" r="16061" t="0"/>
          <a:stretch/>
        </p:blipFill>
        <p:spPr>
          <a:xfrm>
            <a:off x="4705150" y="342525"/>
            <a:ext cx="2035799" cy="19554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avoz de computadora redondo y moderno" id="85" name="Google Shape;85;p17"/>
          <p:cNvPicPr preferRelativeResize="0"/>
          <p:nvPr/>
        </p:nvPicPr>
        <p:blipFill rotWithShape="1">
          <a:blip r:embed="rId4">
            <a:alphaModFix/>
          </a:blip>
          <a:srcRect b="15127" l="6179" r="35687" t="10754"/>
          <a:stretch/>
        </p:blipFill>
        <p:spPr>
          <a:xfrm>
            <a:off x="6796425" y="342525"/>
            <a:ext cx="2035799" cy="194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scos vacíos al revés sobre las tablas de una cerca de madera" id="86" name="Google Shape;86;p17"/>
          <p:cNvPicPr preferRelativeResize="0"/>
          <p:nvPr/>
        </p:nvPicPr>
        <p:blipFill rotWithShape="1">
          <a:blip r:embed="rId5">
            <a:alphaModFix/>
          </a:blip>
          <a:srcRect b="9949" l="9164" r="3636" t="13038"/>
          <a:stretch/>
        </p:blipFill>
        <p:spPr>
          <a:xfrm>
            <a:off x="4705200" y="2336175"/>
            <a:ext cx="4127099" cy="242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00513" y="47625"/>
            <a:ext cx="4943475" cy="50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Caso de uso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555600"/>
            <a:ext cx="5719499" cy="40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Viabilidad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571500" lvl="0" marL="457200" rtl="0" algn="l">
              <a:spcBef>
                <a:spcPts val="0"/>
              </a:spcBef>
              <a:spcAft>
                <a:spcPts val="0"/>
              </a:spcAft>
              <a:buSzPts val="5400"/>
              <a:buChar char="●"/>
            </a:pPr>
            <a:r>
              <a:rPr lang="es-419"/>
              <a:t>Técnica</a:t>
            </a:r>
            <a:endParaRPr/>
          </a:p>
          <a:p>
            <a:pPr indent="-571500" lvl="0" marL="457200" rtl="0" algn="l">
              <a:spcBef>
                <a:spcPts val="0"/>
              </a:spcBef>
              <a:spcAft>
                <a:spcPts val="0"/>
              </a:spcAft>
              <a:buSzPts val="5400"/>
              <a:buChar char="●"/>
            </a:pPr>
            <a:r>
              <a:rPr lang="es-419"/>
              <a:t>Jurídico</a:t>
            </a:r>
            <a:endParaRPr/>
          </a:p>
          <a:p>
            <a:pPr indent="-571500" lvl="0" marL="457200" rtl="0" algn="l">
              <a:spcBef>
                <a:spcPts val="0"/>
              </a:spcBef>
              <a:spcAft>
                <a:spcPts val="0"/>
              </a:spcAft>
              <a:buSzPts val="5400"/>
              <a:buChar char="●"/>
            </a:pPr>
            <a:r>
              <a:rPr lang="es-419"/>
              <a:t>Económica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3750"/>
            <a:ext cx="9144001" cy="514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2311375" y="4292400"/>
            <a:ext cx="5998800" cy="605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Como se </a:t>
            </a:r>
            <a:r>
              <a:rPr lang="es-419"/>
              <a:t>vería</a:t>
            </a:r>
            <a:r>
              <a:rPr lang="es-419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Conclusión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2200"/>
              <a:t>COMPRAEXPLORE! ofrece una solución innovadora para mejorar la compra de productos a través de una plataforma en línea accesible y segura. Busca convertir la  experiencia de compra a conveniente y eficiente, eliminando las barreras de las compras presenciales y ampliando la oferta de productos disponibles. Con un enfoque en la facilidad de uso, seguridad en las transacciones y satisfacción del cliente.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